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0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04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01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66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41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17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6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789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47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56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99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90358-D187-4565-9D8C-50B3FC62D9F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0B0AB-A5E7-4B20-9F1E-A07FC5E4D3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6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4130" y="218530"/>
            <a:ext cx="1005403" cy="338554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数据加载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60170" y="211109"/>
            <a:ext cx="1005403" cy="338554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数据处理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10622" y="223821"/>
            <a:ext cx="1005403" cy="338554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大表构建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2748" y="225896"/>
            <a:ext cx="1005403" cy="338554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关系分析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51685" y="218530"/>
            <a:ext cx="1005403" cy="338554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大表治理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536840" y="225896"/>
            <a:ext cx="1005403" cy="338554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模型训练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980932" y="225896"/>
            <a:ext cx="1005403" cy="338554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模型评估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427921" y="218530"/>
            <a:ext cx="1005403" cy="338554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模型应用</a:t>
            </a:r>
          </a:p>
        </p:txBody>
      </p:sp>
      <p:sp>
        <p:nvSpPr>
          <p:cNvPr id="12" name="右箭头 11"/>
          <p:cNvSpPr/>
          <p:nvPr/>
        </p:nvSpPr>
        <p:spPr>
          <a:xfrm>
            <a:off x="1129533" y="284719"/>
            <a:ext cx="498985" cy="192230"/>
          </a:xfrm>
          <a:prstGeom prst="rightArrow">
            <a:avLst/>
          </a:prstGeom>
          <a:solidFill>
            <a:srgbClr val="FF0000"/>
          </a:solidFill>
          <a:ln w="190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2673701" y="284717"/>
            <a:ext cx="536921" cy="217364"/>
          </a:xfrm>
          <a:prstGeom prst="rightArrow">
            <a:avLst/>
          </a:prstGeom>
          <a:solidFill>
            <a:srgbClr val="FF0000"/>
          </a:solidFill>
          <a:ln w="190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4230507" y="280948"/>
            <a:ext cx="416204" cy="206177"/>
          </a:xfrm>
          <a:prstGeom prst="rightArrow">
            <a:avLst/>
          </a:prstGeom>
          <a:solidFill>
            <a:srgbClr val="FF0000"/>
          </a:solidFill>
          <a:ln w="190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5668416" y="290009"/>
            <a:ext cx="416204" cy="206177"/>
          </a:xfrm>
          <a:prstGeom prst="rightArrow">
            <a:avLst/>
          </a:prstGeom>
          <a:solidFill>
            <a:srgbClr val="FF0000"/>
          </a:solidFill>
          <a:ln w="190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7110908" y="290008"/>
            <a:ext cx="416204" cy="206177"/>
          </a:xfrm>
          <a:prstGeom prst="rightArrow">
            <a:avLst/>
          </a:prstGeom>
          <a:solidFill>
            <a:srgbClr val="FF0000"/>
          </a:solidFill>
          <a:ln w="190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8565366" y="280947"/>
            <a:ext cx="416204" cy="206177"/>
          </a:xfrm>
          <a:prstGeom prst="rightArrow">
            <a:avLst/>
          </a:prstGeom>
          <a:solidFill>
            <a:srgbClr val="FF0000"/>
          </a:solidFill>
          <a:ln w="190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9999092" y="277150"/>
            <a:ext cx="416204" cy="206177"/>
          </a:xfrm>
          <a:prstGeom prst="rightArrow">
            <a:avLst/>
          </a:prstGeom>
          <a:solidFill>
            <a:srgbClr val="FF0000"/>
          </a:solidFill>
          <a:ln w="190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7448" y="618293"/>
            <a:ext cx="111996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测井数据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7366" y="951669"/>
            <a:ext cx="1117871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岩心测试数据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545948" y="621217"/>
            <a:ext cx="1259637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测井资料标准化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538029" y="965194"/>
            <a:ext cx="1256522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实验数据处理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150669" y="735685"/>
            <a:ext cx="111996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岩心自动归位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590686" y="639002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异常值去除</a:t>
            </a:r>
            <a:endParaRPr lang="en-US" altLang="zh-CN" sz="1200" dirty="0">
              <a:solidFill>
                <a:srgbClr val="FFFF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en-US" altLang="zh-CN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(</a:t>
            </a:r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交互</a:t>
            </a:r>
            <a:r>
              <a:rPr lang="en-US" altLang="zh-CN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)</a:t>
            </a:r>
            <a:endParaRPr lang="zh-CN" altLang="en-US" sz="1200" dirty="0">
              <a:solidFill>
                <a:srgbClr val="FFFF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025873" y="660334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基于相关系数层次关系分析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490921" y="672122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机器学习回归训练</a:t>
            </a:r>
          </a:p>
        </p:txBody>
      </p:sp>
      <p:cxnSp>
        <p:nvCxnSpPr>
          <p:cNvPr id="27" name="直接箭头连接符 26"/>
          <p:cNvCxnSpPr>
            <a:stCxn id="19" idx="3"/>
          </p:cNvCxnSpPr>
          <p:nvPr/>
        </p:nvCxnSpPr>
        <p:spPr>
          <a:xfrm>
            <a:off x="1197412" y="756793"/>
            <a:ext cx="330698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1207330" y="1100848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930938" y="672122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回归模型优选定量指标评价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0427921" y="667384"/>
            <a:ext cx="1181070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回归模型应用输出结果</a:t>
            </a:r>
            <a:endParaRPr lang="en-US" altLang="zh-CN" sz="1200" dirty="0">
              <a:solidFill>
                <a:srgbClr val="FFFF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cxnSp>
        <p:nvCxnSpPr>
          <p:cNvPr id="31" name="直接箭头连接符 30"/>
          <p:cNvCxnSpPr>
            <a:endCxn id="23" idx="1"/>
          </p:cNvCxnSpPr>
          <p:nvPr/>
        </p:nvCxnSpPr>
        <p:spPr>
          <a:xfrm>
            <a:off x="2812858" y="751872"/>
            <a:ext cx="337811" cy="12231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endCxn id="23" idx="1"/>
          </p:cNvCxnSpPr>
          <p:nvPr/>
        </p:nvCxnSpPr>
        <p:spPr>
          <a:xfrm flipV="1">
            <a:off x="2807893" y="874185"/>
            <a:ext cx="342776" cy="25763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4" idx="3"/>
            <a:endCxn id="25" idx="1"/>
          </p:cNvCxnSpPr>
          <p:nvPr/>
        </p:nvCxnSpPr>
        <p:spPr>
          <a:xfrm>
            <a:off x="5710650" y="869835"/>
            <a:ext cx="315223" cy="2133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7135191" y="891166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8625270" y="876910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3148787" y="2327251"/>
            <a:ext cx="111996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层段特征提取</a:t>
            </a:r>
          </a:p>
        </p:txBody>
      </p:sp>
      <p:cxnSp>
        <p:nvCxnSpPr>
          <p:cNvPr id="37" name="直接箭头连接符 36"/>
          <p:cNvCxnSpPr>
            <a:stCxn id="23" idx="3"/>
            <a:endCxn id="24" idx="1"/>
          </p:cNvCxnSpPr>
          <p:nvPr/>
        </p:nvCxnSpPr>
        <p:spPr>
          <a:xfrm flipV="1">
            <a:off x="4270633" y="869835"/>
            <a:ext cx="320053" cy="435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10074406" y="874185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4634698" y="2322417"/>
            <a:ext cx="1052459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异常值去除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7448" y="2205820"/>
            <a:ext cx="111996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algn="ctr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测井数据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5673" y="2670409"/>
            <a:ext cx="1117871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压裂施工数据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526087" y="2210108"/>
            <a:ext cx="1259637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测井资料标准化</a:t>
            </a:r>
          </a:p>
        </p:txBody>
      </p:sp>
      <p:cxnSp>
        <p:nvCxnSpPr>
          <p:cNvPr id="44" name="直接箭头连接符 43"/>
          <p:cNvCxnSpPr>
            <a:stCxn id="40" idx="3"/>
          </p:cNvCxnSpPr>
          <p:nvPr/>
        </p:nvCxnSpPr>
        <p:spPr>
          <a:xfrm>
            <a:off x="1197412" y="2344320"/>
            <a:ext cx="330698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1195637" y="2819588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2812858" y="2339399"/>
            <a:ext cx="337811" cy="12231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2807893" y="2461712"/>
            <a:ext cx="342776" cy="25763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4281437" y="2465116"/>
            <a:ext cx="331854" cy="395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3138237" y="3409349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关键列数据合并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90047" y="3081827"/>
            <a:ext cx="111996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algn="ctr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压裂施工数据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99965" y="3415203"/>
            <a:ext cx="1117871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单井生产数据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545782" y="3105134"/>
            <a:ext cx="1259637" cy="430887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压裂数据处理</a:t>
            </a:r>
            <a:endParaRPr lang="en-US" altLang="zh-CN" sz="11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zh-CN" altLang="en-US" sz="11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（</a:t>
            </a:r>
            <a:r>
              <a:rPr lang="en-US" altLang="zh-CN" sz="11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excel</a:t>
            </a:r>
            <a:r>
              <a:rPr lang="zh-CN" altLang="en-US" sz="11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交互）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560863" y="3490584"/>
            <a:ext cx="1256522" cy="253916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单井产能参数提取</a:t>
            </a:r>
          </a:p>
        </p:txBody>
      </p:sp>
      <p:cxnSp>
        <p:nvCxnSpPr>
          <p:cNvPr id="54" name="直接箭头连接符 53"/>
          <p:cNvCxnSpPr>
            <a:stCxn id="50" idx="3"/>
          </p:cNvCxnSpPr>
          <p:nvPr/>
        </p:nvCxnSpPr>
        <p:spPr>
          <a:xfrm>
            <a:off x="1210011" y="3220327"/>
            <a:ext cx="330698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V="1">
            <a:off x="1219929" y="3564382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52" idx="3"/>
            <a:endCxn id="49" idx="1"/>
          </p:cNvCxnSpPr>
          <p:nvPr/>
        </p:nvCxnSpPr>
        <p:spPr>
          <a:xfrm>
            <a:off x="2805419" y="3320578"/>
            <a:ext cx="332818" cy="31960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53" idx="3"/>
            <a:endCxn id="49" idx="1"/>
          </p:cNvCxnSpPr>
          <p:nvPr/>
        </p:nvCxnSpPr>
        <p:spPr>
          <a:xfrm>
            <a:off x="2817385" y="3617542"/>
            <a:ext cx="320852" cy="226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6069952" y="2251986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基于相关系数层次关系分析</a:t>
            </a:r>
          </a:p>
        </p:txBody>
      </p:sp>
      <p:cxnSp>
        <p:nvCxnSpPr>
          <p:cNvPr id="59" name="直接箭头连接符 58"/>
          <p:cNvCxnSpPr/>
          <p:nvPr/>
        </p:nvCxnSpPr>
        <p:spPr>
          <a:xfrm>
            <a:off x="5742560" y="2460917"/>
            <a:ext cx="315223" cy="7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V="1">
            <a:off x="8660761" y="1674121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3156059" y="1532216"/>
            <a:ext cx="111996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分段曲线标注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7534577" y="1461629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机器学习分类训练</a:t>
            </a:r>
          </a:p>
        </p:txBody>
      </p:sp>
      <p:cxnSp>
        <p:nvCxnSpPr>
          <p:cNvPr id="63" name="直接箭头连接符 62"/>
          <p:cNvCxnSpPr/>
          <p:nvPr/>
        </p:nvCxnSpPr>
        <p:spPr>
          <a:xfrm flipV="1">
            <a:off x="7201468" y="1681873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8986642" y="1448026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分类模型优选定量指标评价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0483625" y="1443288"/>
            <a:ext cx="117420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分类模型应用</a:t>
            </a:r>
            <a:endParaRPr lang="en-US" altLang="zh-CN" sz="1200" dirty="0">
              <a:solidFill>
                <a:srgbClr val="FF00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输出结果</a:t>
            </a:r>
            <a:endParaRPr lang="en-US" altLang="zh-CN" sz="1200" dirty="0">
              <a:solidFill>
                <a:srgbClr val="FF00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V="1">
            <a:off x="10130110" y="1650089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4653042" y="1467534"/>
            <a:ext cx="1052459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分类别</a:t>
            </a:r>
            <a:endParaRPr lang="en-US" altLang="zh-CN" sz="1200" dirty="0">
              <a:solidFill>
                <a:srgbClr val="FFFF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异常值去除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84721" y="1414824"/>
            <a:ext cx="111996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algn="ctr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测井数据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94639" y="1748200"/>
            <a:ext cx="1117871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algn="ctr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岩性数据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1553221" y="1417748"/>
            <a:ext cx="1259637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测井资料标准化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1545302" y="1761725"/>
            <a:ext cx="1256522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岩性数据处理</a:t>
            </a:r>
          </a:p>
        </p:txBody>
      </p:sp>
      <p:cxnSp>
        <p:nvCxnSpPr>
          <p:cNvPr id="72" name="直接箭头连接符 71"/>
          <p:cNvCxnSpPr>
            <a:stCxn id="68" idx="3"/>
          </p:cNvCxnSpPr>
          <p:nvPr/>
        </p:nvCxnSpPr>
        <p:spPr>
          <a:xfrm>
            <a:off x="1204685" y="1553324"/>
            <a:ext cx="330698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V="1">
            <a:off x="1214603" y="1897379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endCxn id="61" idx="1"/>
          </p:cNvCxnSpPr>
          <p:nvPr/>
        </p:nvCxnSpPr>
        <p:spPr>
          <a:xfrm>
            <a:off x="2818175" y="1530340"/>
            <a:ext cx="337884" cy="1403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71" idx="3"/>
            <a:endCxn id="61" idx="1"/>
          </p:cNvCxnSpPr>
          <p:nvPr/>
        </p:nvCxnSpPr>
        <p:spPr>
          <a:xfrm flipV="1">
            <a:off x="2801824" y="1670716"/>
            <a:ext cx="354235" cy="22950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4288710" y="1674120"/>
            <a:ext cx="331854" cy="395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6077225" y="1460990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基于网格密度层次关系分析</a:t>
            </a:r>
          </a:p>
        </p:txBody>
      </p:sp>
      <p:cxnSp>
        <p:nvCxnSpPr>
          <p:cNvPr id="78" name="直接箭头连接符 77"/>
          <p:cNvCxnSpPr/>
          <p:nvPr/>
        </p:nvCxnSpPr>
        <p:spPr>
          <a:xfrm>
            <a:off x="5749833" y="1669921"/>
            <a:ext cx="315223" cy="7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6053708" y="3309695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基于相关系数层次聚类算法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7518756" y="3321483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机器学习回归训练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8931508" y="3320914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回归模型优选定量指标评价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10455756" y="3316745"/>
            <a:ext cx="1181070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回归模型应用输出结果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cxnSp>
        <p:nvCxnSpPr>
          <p:cNvPr id="83" name="直接箭头连接符 82"/>
          <p:cNvCxnSpPr>
            <a:endCxn id="79" idx="1"/>
          </p:cNvCxnSpPr>
          <p:nvPr/>
        </p:nvCxnSpPr>
        <p:spPr>
          <a:xfrm>
            <a:off x="5738485" y="3539733"/>
            <a:ext cx="315223" cy="7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 flipV="1">
            <a:off x="7163026" y="3540527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 flipV="1">
            <a:off x="8653105" y="3526271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 flipV="1">
            <a:off x="10102241" y="3523546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>
          <a:xfrm>
            <a:off x="4645131" y="3413952"/>
            <a:ext cx="1052459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异常值去除</a:t>
            </a:r>
          </a:p>
        </p:txBody>
      </p:sp>
      <p:cxnSp>
        <p:nvCxnSpPr>
          <p:cNvPr id="88" name="直接箭头连接符 87"/>
          <p:cNvCxnSpPr/>
          <p:nvPr/>
        </p:nvCxnSpPr>
        <p:spPr>
          <a:xfrm>
            <a:off x="4291870" y="3556651"/>
            <a:ext cx="331854" cy="395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1537485" y="3775033"/>
            <a:ext cx="1259637" cy="430887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单井地质数据参数提取（待写）</a:t>
            </a:r>
          </a:p>
        </p:txBody>
      </p:sp>
      <p:cxnSp>
        <p:nvCxnSpPr>
          <p:cNvPr id="90" name="直接箭头连接符 89"/>
          <p:cNvCxnSpPr>
            <a:stCxn id="89" idx="3"/>
            <a:endCxn id="49" idx="1"/>
          </p:cNvCxnSpPr>
          <p:nvPr/>
        </p:nvCxnSpPr>
        <p:spPr>
          <a:xfrm flipV="1">
            <a:off x="2797122" y="3640182"/>
            <a:ext cx="341115" cy="3502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90047" y="3759257"/>
            <a:ext cx="1117871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地质解释数据</a:t>
            </a:r>
          </a:p>
        </p:txBody>
      </p:sp>
      <p:cxnSp>
        <p:nvCxnSpPr>
          <p:cNvPr id="92" name="直接箭头连接符 91"/>
          <p:cNvCxnSpPr/>
          <p:nvPr/>
        </p:nvCxnSpPr>
        <p:spPr>
          <a:xfrm flipV="1">
            <a:off x="1210011" y="3908436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7541992" y="2241652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机器学习回归训练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8982009" y="2241652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回归模型优选定量指标评价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10478992" y="2236914"/>
            <a:ext cx="1181070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回归模型应用输出结果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cxnSp>
        <p:nvCxnSpPr>
          <p:cNvPr id="96" name="直接箭头连接符 95"/>
          <p:cNvCxnSpPr/>
          <p:nvPr/>
        </p:nvCxnSpPr>
        <p:spPr>
          <a:xfrm flipV="1">
            <a:off x="7186262" y="2460696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 flipV="1">
            <a:off x="8676341" y="2446440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 flipV="1">
            <a:off x="10125477" y="2443715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-2737305" y="490145"/>
            <a:ext cx="2749471" cy="861774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0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地质储层参数智能预测</a:t>
            </a:r>
            <a:endParaRPr lang="en-US" altLang="zh-CN" sz="20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marL="457200" indent="-457200">
              <a:spcBef>
                <a:spcPct val="50000"/>
              </a:spcBef>
            </a:pPr>
            <a:r>
              <a:rPr lang="zh-CN" altLang="en-US" sz="20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岩石力学参数智能预测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-1745545" y="1560050"/>
            <a:ext cx="1723549" cy="400110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0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岩性智能识别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-2748071" y="2339141"/>
            <a:ext cx="2749471" cy="400110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0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压裂施工参数智能预测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-2751637" y="3359147"/>
            <a:ext cx="2749471" cy="400110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0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单井产能参数智能预测</a:t>
            </a:r>
          </a:p>
        </p:txBody>
      </p:sp>
      <p:cxnSp>
        <p:nvCxnSpPr>
          <p:cNvPr id="103" name="直接箭头连接符 102"/>
          <p:cNvCxnSpPr/>
          <p:nvPr/>
        </p:nvCxnSpPr>
        <p:spPr>
          <a:xfrm flipV="1">
            <a:off x="8660761" y="4351782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/>
          <p:cNvSpPr txBox="1"/>
          <p:nvPr/>
        </p:nvSpPr>
        <p:spPr>
          <a:xfrm>
            <a:off x="3156060" y="4213916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概率累积分类</a:t>
            </a:r>
            <a:endParaRPr lang="en-US" altLang="zh-CN" sz="1200" dirty="0">
              <a:solidFill>
                <a:srgbClr val="FF00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en-US" altLang="zh-CN" sz="12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交互</a:t>
            </a:r>
            <a:r>
              <a:rPr lang="en-US" altLang="zh-CN" sz="12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)</a:t>
            </a:r>
            <a:endParaRPr lang="zh-CN" altLang="en-US" sz="1200" dirty="0">
              <a:solidFill>
                <a:srgbClr val="FF00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7534577" y="4139290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机器学习分类训练</a:t>
            </a:r>
          </a:p>
        </p:txBody>
      </p:sp>
      <p:cxnSp>
        <p:nvCxnSpPr>
          <p:cNvPr id="106" name="直接箭头连接符 105"/>
          <p:cNvCxnSpPr/>
          <p:nvPr/>
        </p:nvCxnSpPr>
        <p:spPr>
          <a:xfrm flipV="1">
            <a:off x="7201468" y="4359534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/>
        </p:nvSpPr>
        <p:spPr>
          <a:xfrm>
            <a:off x="8986642" y="4125687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分类模型优选定量指标评价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10483625" y="4120949"/>
            <a:ext cx="117420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分类模型应用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输出结果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cxnSp>
        <p:nvCxnSpPr>
          <p:cNvPr id="109" name="直接箭头连接符 108"/>
          <p:cNvCxnSpPr/>
          <p:nvPr/>
        </p:nvCxnSpPr>
        <p:spPr>
          <a:xfrm flipV="1">
            <a:off x="10130110" y="4327750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4653042" y="4145195"/>
            <a:ext cx="1052459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分类别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异常值去除</a:t>
            </a:r>
          </a:p>
        </p:txBody>
      </p:sp>
      <p:cxnSp>
        <p:nvCxnSpPr>
          <p:cNvPr id="111" name="直接箭头连接符 110"/>
          <p:cNvCxnSpPr/>
          <p:nvPr/>
        </p:nvCxnSpPr>
        <p:spPr>
          <a:xfrm>
            <a:off x="4288710" y="4351781"/>
            <a:ext cx="331854" cy="395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/>
        </p:nvSpPr>
        <p:spPr>
          <a:xfrm>
            <a:off x="6077225" y="4138651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基于网格密度层次关系分析</a:t>
            </a:r>
          </a:p>
        </p:txBody>
      </p:sp>
      <p:cxnSp>
        <p:nvCxnSpPr>
          <p:cNvPr id="113" name="直接箭头连接符 112"/>
          <p:cNvCxnSpPr/>
          <p:nvPr/>
        </p:nvCxnSpPr>
        <p:spPr>
          <a:xfrm>
            <a:off x="5749833" y="4347582"/>
            <a:ext cx="315223" cy="7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/>
          <p:cNvSpPr txBox="1"/>
          <p:nvPr/>
        </p:nvSpPr>
        <p:spPr>
          <a:xfrm>
            <a:off x="116727" y="4213916"/>
            <a:ext cx="1117871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大表数据加载</a:t>
            </a:r>
          </a:p>
        </p:txBody>
      </p:sp>
      <p:cxnSp>
        <p:nvCxnSpPr>
          <p:cNvPr id="115" name="直接箭头连接符 114"/>
          <p:cNvCxnSpPr/>
          <p:nvPr/>
        </p:nvCxnSpPr>
        <p:spPr>
          <a:xfrm>
            <a:off x="1241068" y="4347583"/>
            <a:ext cx="1914992" cy="483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/>
          <p:cNvSpPr txBox="1"/>
          <p:nvPr/>
        </p:nvSpPr>
        <p:spPr>
          <a:xfrm>
            <a:off x="-2523185" y="4192617"/>
            <a:ext cx="2492990" cy="400110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0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单因素储层分类识别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12034848" y="1521160"/>
            <a:ext cx="117420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顶底数据计算</a:t>
            </a:r>
            <a:endParaRPr lang="en-US" altLang="zh-CN" sz="1200" dirty="0">
              <a:solidFill>
                <a:srgbClr val="FFFF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cxnSp>
        <p:nvCxnSpPr>
          <p:cNvPr id="118" name="直接箭头连接符 117"/>
          <p:cNvCxnSpPr/>
          <p:nvPr/>
        </p:nvCxnSpPr>
        <p:spPr>
          <a:xfrm flipV="1">
            <a:off x="11681333" y="1659660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 flipV="1">
            <a:off x="11665069" y="4355733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23"/>
          <p:cNvSpPr txBox="1"/>
          <p:nvPr/>
        </p:nvSpPr>
        <p:spPr>
          <a:xfrm>
            <a:off x="9005573" y="2814458"/>
            <a:ext cx="117420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段簇优化设计</a:t>
            </a:r>
            <a:endParaRPr lang="en-US" altLang="zh-CN" sz="1200" dirty="0">
              <a:solidFill>
                <a:srgbClr val="FF00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cxnSp>
        <p:nvCxnSpPr>
          <p:cNvPr id="125" name="直接箭头连接符 124"/>
          <p:cNvCxnSpPr/>
          <p:nvPr/>
        </p:nvCxnSpPr>
        <p:spPr>
          <a:xfrm flipV="1">
            <a:off x="8658924" y="2970659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7530072" y="2844634"/>
            <a:ext cx="111996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智能聚类</a:t>
            </a:r>
          </a:p>
        </p:txBody>
      </p:sp>
      <p:cxnSp>
        <p:nvCxnSpPr>
          <p:cNvPr id="127" name="直接箭头连接符 126"/>
          <p:cNvCxnSpPr>
            <a:stCxn id="124" idx="3"/>
            <a:endCxn id="95" idx="1"/>
          </p:cNvCxnSpPr>
          <p:nvPr/>
        </p:nvCxnSpPr>
        <p:spPr>
          <a:xfrm flipV="1">
            <a:off x="10179777" y="2467747"/>
            <a:ext cx="299215" cy="48521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27"/>
          <p:cNvSpPr txBox="1"/>
          <p:nvPr/>
        </p:nvSpPr>
        <p:spPr>
          <a:xfrm>
            <a:off x="6056593" y="2866523"/>
            <a:ext cx="111996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algn="ctr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测井数据</a:t>
            </a:r>
          </a:p>
        </p:txBody>
      </p:sp>
      <p:cxnSp>
        <p:nvCxnSpPr>
          <p:cNvPr id="129" name="直接箭头连接符 128"/>
          <p:cNvCxnSpPr/>
          <p:nvPr/>
        </p:nvCxnSpPr>
        <p:spPr>
          <a:xfrm flipV="1">
            <a:off x="7199373" y="2957430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/>
          <p:cNvCxnSpPr/>
          <p:nvPr/>
        </p:nvCxnSpPr>
        <p:spPr>
          <a:xfrm flipV="1">
            <a:off x="8672385" y="4951169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本框 130"/>
          <p:cNvSpPr txBox="1"/>
          <p:nvPr/>
        </p:nvSpPr>
        <p:spPr>
          <a:xfrm>
            <a:off x="3167684" y="4813303"/>
            <a:ext cx="111996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智能聚类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7546201" y="4738677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机器学习分类训练</a:t>
            </a:r>
          </a:p>
        </p:txBody>
      </p:sp>
      <p:cxnSp>
        <p:nvCxnSpPr>
          <p:cNvPr id="133" name="直接箭头连接符 132"/>
          <p:cNvCxnSpPr/>
          <p:nvPr/>
        </p:nvCxnSpPr>
        <p:spPr>
          <a:xfrm flipV="1">
            <a:off x="7213092" y="4958921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/>
          <p:cNvSpPr txBox="1"/>
          <p:nvPr/>
        </p:nvSpPr>
        <p:spPr>
          <a:xfrm>
            <a:off x="8998266" y="4725074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分类模型优选定量指标评价</a:t>
            </a:r>
          </a:p>
        </p:txBody>
      </p:sp>
      <p:sp>
        <p:nvSpPr>
          <p:cNvPr id="135" name="文本框 134"/>
          <p:cNvSpPr txBox="1"/>
          <p:nvPr/>
        </p:nvSpPr>
        <p:spPr>
          <a:xfrm>
            <a:off x="10495249" y="4720336"/>
            <a:ext cx="117420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分类模型应用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输出结果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 flipV="1">
            <a:off x="10141734" y="4927137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136"/>
          <p:cNvSpPr txBox="1"/>
          <p:nvPr/>
        </p:nvSpPr>
        <p:spPr>
          <a:xfrm>
            <a:off x="4664666" y="4744582"/>
            <a:ext cx="1052459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分类别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异常值去除</a:t>
            </a:r>
          </a:p>
        </p:txBody>
      </p:sp>
      <p:cxnSp>
        <p:nvCxnSpPr>
          <p:cNvPr id="138" name="直接箭头连接符 137"/>
          <p:cNvCxnSpPr/>
          <p:nvPr/>
        </p:nvCxnSpPr>
        <p:spPr>
          <a:xfrm>
            <a:off x="4300334" y="4951168"/>
            <a:ext cx="331854" cy="395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/>
          <p:cNvSpPr txBox="1"/>
          <p:nvPr/>
        </p:nvSpPr>
        <p:spPr>
          <a:xfrm>
            <a:off x="6061932" y="4747243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基于网格密度层次关系分析</a:t>
            </a:r>
          </a:p>
        </p:txBody>
      </p:sp>
      <p:cxnSp>
        <p:nvCxnSpPr>
          <p:cNvPr id="140" name="直接箭头连接符 139"/>
          <p:cNvCxnSpPr/>
          <p:nvPr/>
        </p:nvCxnSpPr>
        <p:spPr>
          <a:xfrm>
            <a:off x="5761457" y="4946969"/>
            <a:ext cx="315223" cy="7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本框 140"/>
          <p:cNvSpPr txBox="1"/>
          <p:nvPr/>
        </p:nvSpPr>
        <p:spPr>
          <a:xfrm>
            <a:off x="128351" y="4813303"/>
            <a:ext cx="1117871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大表数据加载</a:t>
            </a:r>
          </a:p>
        </p:txBody>
      </p:sp>
      <p:cxnSp>
        <p:nvCxnSpPr>
          <p:cNvPr id="142" name="直接箭头连接符 141"/>
          <p:cNvCxnSpPr>
            <a:endCxn id="131" idx="1"/>
          </p:cNvCxnSpPr>
          <p:nvPr/>
        </p:nvCxnSpPr>
        <p:spPr>
          <a:xfrm>
            <a:off x="1252692" y="4946970"/>
            <a:ext cx="1914992" cy="483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/>
          <p:nvPr/>
        </p:nvCxnSpPr>
        <p:spPr>
          <a:xfrm flipV="1">
            <a:off x="11674283" y="4946969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/>
          <p:cNvSpPr txBox="1"/>
          <p:nvPr/>
        </p:nvSpPr>
        <p:spPr>
          <a:xfrm>
            <a:off x="-2508767" y="4754290"/>
            <a:ext cx="2492990" cy="400110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0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多因素储层分类识别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11993839" y="4178940"/>
            <a:ext cx="117420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顶底数据计算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11996324" y="4816620"/>
            <a:ext cx="117420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顶底数据计算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114406" y="5400712"/>
            <a:ext cx="1117871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大表数据加载</a:t>
            </a:r>
          </a:p>
        </p:txBody>
      </p:sp>
      <p:cxnSp>
        <p:nvCxnSpPr>
          <p:cNvPr id="149" name="直接箭头连接符 148"/>
          <p:cNvCxnSpPr/>
          <p:nvPr/>
        </p:nvCxnSpPr>
        <p:spPr>
          <a:xfrm>
            <a:off x="1238747" y="5534379"/>
            <a:ext cx="3411974" cy="2844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本框 149"/>
          <p:cNvSpPr txBox="1"/>
          <p:nvPr/>
        </p:nvSpPr>
        <p:spPr>
          <a:xfrm>
            <a:off x="-2525506" y="5379413"/>
            <a:ext cx="2236510" cy="400110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0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大表数据回归预测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6084620" y="5351570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基于相关系数层次聚类算法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7549668" y="5363358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机器学习回归训练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8989685" y="5363358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回归模型优选定量指标评价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10486668" y="5358620"/>
            <a:ext cx="1181070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回归模型应用输出结果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cxnSp>
        <p:nvCxnSpPr>
          <p:cNvPr id="155" name="直接箭头连接符 154"/>
          <p:cNvCxnSpPr>
            <a:endCxn id="151" idx="1"/>
          </p:cNvCxnSpPr>
          <p:nvPr/>
        </p:nvCxnSpPr>
        <p:spPr>
          <a:xfrm>
            <a:off x="5769397" y="5581608"/>
            <a:ext cx="315223" cy="7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/>
        </p:nvCxnSpPr>
        <p:spPr>
          <a:xfrm flipV="1">
            <a:off x="7193938" y="5582402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/>
          <p:nvPr/>
        </p:nvCxnSpPr>
        <p:spPr>
          <a:xfrm flipV="1">
            <a:off x="8684017" y="5568146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/>
          <p:nvPr/>
        </p:nvCxnSpPr>
        <p:spPr>
          <a:xfrm flipV="1">
            <a:off x="10133153" y="5565421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/>
          <p:cNvSpPr txBox="1"/>
          <p:nvPr/>
        </p:nvSpPr>
        <p:spPr>
          <a:xfrm>
            <a:off x="4676043" y="5455827"/>
            <a:ext cx="1052459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异常值去除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-2525506" y="5848517"/>
            <a:ext cx="2236510" cy="400110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0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大表数据分类识别</a:t>
            </a:r>
          </a:p>
        </p:txBody>
      </p:sp>
      <p:cxnSp>
        <p:nvCxnSpPr>
          <p:cNvPr id="161" name="直接箭头连接符 160"/>
          <p:cNvCxnSpPr/>
          <p:nvPr/>
        </p:nvCxnSpPr>
        <p:spPr>
          <a:xfrm flipV="1">
            <a:off x="8698484" y="6197892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/>
          <p:cNvSpPr txBox="1"/>
          <p:nvPr/>
        </p:nvSpPr>
        <p:spPr>
          <a:xfrm>
            <a:off x="7572300" y="5985400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机器学习分类训练</a:t>
            </a:r>
          </a:p>
        </p:txBody>
      </p:sp>
      <p:cxnSp>
        <p:nvCxnSpPr>
          <p:cNvPr id="163" name="直接箭头连接符 162"/>
          <p:cNvCxnSpPr/>
          <p:nvPr/>
        </p:nvCxnSpPr>
        <p:spPr>
          <a:xfrm flipV="1">
            <a:off x="7239191" y="6205644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文本框 163"/>
          <p:cNvSpPr txBox="1"/>
          <p:nvPr/>
        </p:nvSpPr>
        <p:spPr>
          <a:xfrm>
            <a:off x="9024365" y="5971797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分类模型优选定量指标评价</a:t>
            </a:r>
          </a:p>
        </p:txBody>
      </p:sp>
      <p:sp>
        <p:nvSpPr>
          <p:cNvPr id="165" name="文本框 164"/>
          <p:cNvSpPr txBox="1"/>
          <p:nvPr/>
        </p:nvSpPr>
        <p:spPr>
          <a:xfrm>
            <a:off x="10521348" y="5967059"/>
            <a:ext cx="117420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分类模型应用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输出结果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cxnSp>
        <p:nvCxnSpPr>
          <p:cNvPr id="166" name="直接箭头连接符 165"/>
          <p:cNvCxnSpPr/>
          <p:nvPr/>
        </p:nvCxnSpPr>
        <p:spPr>
          <a:xfrm flipV="1">
            <a:off x="10167833" y="6173860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文本框 166"/>
          <p:cNvSpPr txBox="1"/>
          <p:nvPr/>
        </p:nvSpPr>
        <p:spPr>
          <a:xfrm>
            <a:off x="4690765" y="5991305"/>
            <a:ext cx="1052459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分类别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异常值去除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6114948" y="5984761"/>
            <a:ext cx="1119964" cy="46166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基于网格密度层次关系分析</a:t>
            </a:r>
          </a:p>
        </p:txBody>
      </p:sp>
      <p:cxnSp>
        <p:nvCxnSpPr>
          <p:cNvPr id="169" name="直接箭头连接符 168"/>
          <p:cNvCxnSpPr/>
          <p:nvPr/>
        </p:nvCxnSpPr>
        <p:spPr>
          <a:xfrm>
            <a:off x="5787556" y="6193692"/>
            <a:ext cx="315223" cy="7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V="1">
            <a:off x="11700382" y="6193692"/>
            <a:ext cx="330699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/>
          <p:cNvSpPr txBox="1"/>
          <p:nvPr/>
        </p:nvSpPr>
        <p:spPr>
          <a:xfrm>
            <a:off x="12022423" y="6063343"/>
            <a:ext cx="1174204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顶底数据计算</a:t>
            </a:r>
            <a:endParaRPr lang="en-US" altLang="zh-CN" sz="1200" dirty="0"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131634" y="6034236"/>
            <a:ext cx="1117871" cy="276999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200" dirty="0"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大表数据加载</a:t>
            </a: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1255975" y="6167903"/>
            <a:ext cx="3411974" cy="2844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本框 181"/>
          <p:cNvSpPr txBox="1"/>
          <p:nvPr/>
        </p:nvSpPr>
        <p:spPr>
          <a:xfrm>
            <a:off x="1533871" y="2640873"/>
            <a:ext cx="1259637" cy="430887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压裂数据处理</a:t>
            </a:r>
            <a:endParaRPr lang="en-US" altLang="zh-CN" sz="1100" dirty="0">
              <a:solidFill>
                <a:srgbClr val="FFFF00"/>
              </a:solidFill>
              <a:latin typeface="方正大黑简体" pitchFamily="2" charset="-122"/>
              <a:ea typeface="方正大黑简体" pitchFamily="2" charset="-122"/>
              <a:sym typeface="方正大黑简体" panose="03000509000000000000" pitchFamily="65" charset="-122"/>
            </a:endParaRPr>
          </a:p>
          <a:p>
            <a:pPr algn="ctr"/>
            <a:r>
              <a:rPr lang="zh-CN" altLang="en-US" sz="11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（</a:t>
            </a:r>
            <a:r>
              <a:rPr lang="en-US" altLang="zh-CN" sz="11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excel</a:t>
            </a:r>
            <a:r>
              <a:rPr lang="zh-CN" altLang="en-US" sz="1100" dirty="0">
                <a:solidFill>
                  <a:srgbClr val="FFFF00"/>
                </a:solidFill>
                <a:latin typeface="方正大黑简体" pitchFamily="2" charset="-122"/>
                <a:ea typeface="方正大黑简体" pitchFamily="2" charset="-122"/>
                <a:sym typeface="方正大黑简体" panose="03000509000000000000" pitchFamily="65" charset="-122"/>
              </a:rPr>
              <a:t>交互）</a:t>
            </a:r>
          </a:p>
        </p:txBody>
      </p:sp>
    </p:spTree>
    <p:extLst>
      <p:ext uri="{BB962C8B-B14F-4D97-AF65-F5344CB8AC3E}">
        <p14:creationId xmlns:p14="http://schemas.microsoft.com/office/powerpoint/2010/main" val="64555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369</Words>
  <Application>Microsoft Office PowerPoint</Application>
  <PresentationFormat>宽屏</PresentationFormat>
  <Paragraphs>104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方正大黑简体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LHiennn</cp:lastModifiedBy>
  <cp:revision>10</cp:revision>
  <dcterms:created xsi:type="dcterms:W3CDTF">2024-01-30T01:43:47Z</dcterms:created>
  <dcterms:modified xsi:type="dcterms:W3CDTF">2024-03-14T07:48:43Z</dcterms:modified>
</cp:coreProperties>
</file>